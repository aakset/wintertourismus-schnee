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Konzept" id="{7399d93d-b72d-661a-fa75-22c91fdc5a03}">
          <p14:sldIdLst>
            <p14:sldId id="2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Hauptfrage: Wir wollen nicht nur vorhersagen, sondern vergleichen. Der Kern ist der Vergleich der Höhenklassen: Für wen ist Schnee wichtiger, für tiefe oder für hohe Gemeinden? Damit geht die Frage über eine reine Vorhersage hinaus.
Auswahl: Von den 186 Gemeinden der BFS-Statistik untersuchen wir die 45 Wintersportorte, also Orte mit mindestens einem Drittel der Logiernächte von Dezember bis März. Die Grenze für tief liegt bei 1200 m statt 1000 m, weil nur 3 Wintersportorte unter 1000 m liegen und damit kein Vergleich möglich wäre. Mit 1200 m haben wir 13 tiefe, 19 mittlere und 13 hohe Orte. Die Einteilung mit 1000 m rechnen wir als Robustheitscheck mit.
Teilfragen: (a) Gästemix In- und Ausland, (b) ob die Schneeabhängigkeit in den letzten Jahren zugenommen hat.
Hypothesen H1 bis H5 kurz durchgehen. H2 ist die zentrale Hypothese zum Höhenvergleich. H5 prüft, ob der Schnee-Effekt auch bleibt, wenn wir Wechselkurs, Ferien und Feiertage berücksichtigen.
Rechts (Feedback Dozent): Neben Schnee und Temperatur nehmen wir weitere Variablen ins Modell: Sonnenstunden, Höhenklasse, Hotelkapazität, Gästemix sowie EUR/CHF-Kurs, deutsche und Schweizer Schulferien und Schweizer Feiertage. Wechselkurs, Ferien und Feiertage sind für alle Gemeinden gleich. Sie erklären Schwankungen zwischen Monaten und Jahren, nicht Unterschiede zwischen Orten.
WICHTIG – Annahme bei den Schweizer Schulferien (Sternchen): Daten dazu gibt es erst ab Ende 2019. Für 2013 bis 2019 haben wir angenommen, dass die Kantone ihre Ferien in denselben Kalenderwochen hatten wie 2021 bis 2026, und das Muster zurückgeschrieben. Das ist eine Schätzung, keine echten Daten. Im Rückwärtstest mit 2025 lag die Schätzung im Schnitt 0.9 Ferientage pro Monat daneben, im Februar aber bis zu 3 Tage, weil sich die Sportferien verschieben. Darum prüfen wir die Ergebnisse auch ohne diese Variable bzw. nur für 2020 bis 2026.
Zielgrösse ist die Zimmerauslastung in Prozent, weil sie unabhängig von der Grösse des Ortes ist. Logiernächte absolut wären es nicht.
Corona: Die Winter 2019/20 ab März 2020 und 2020/21 schliessen wir aus bzw. markieren sie, weil die Auslastung dort durch Schliessungen und Reisebeschränkungen bestimmt war, nicht durch Schnee.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EL_NUR">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640080"/>
          </a:xfrm>
          <a:prstGeom prst="rect">
            <a:avLst/>
          </a:prstGeom>
          <a:noFill/>
          <a:ln/>
        </p:spPr>
        <p:txBody>
          <a:bodyPr wrap="square" rtlCol="0"/>
          <a:lstStyle>
            <a:lvl1pPr indent="0" marL="0">
              <a:buNone/>
              <a:defRPr lang="en-US" sz="3400" b="1" dirty="0">
                <a:solidFill>
                  <a:schemeClr val="tx2"/>
                </a:solidFill>
              </a:defRPr>
            </a:lvl1pPr>
          </a:lstStyle>
          <a:p>
            <a:pPr indent="0" marL="0">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640080"/>
          </a:xfrm>
          <a:prstGeom prst="rect">
            <a:avLst/>
          </a:prstGeom>
          <a:noFill/>
          <a:ln/>
        </p:spPr>
        <p:txBody>
          <a:bodyPr wrap="square" lIns="0" tIns="0" rIns="0" bIns="0" rtlCol="0" anchor="ctr"/>
          <a:lstStyle/>
          <a:p>
            <a:pPr indent="0" marL="0">
              <a:buNone/>
            </a:pPr>
            <a:r>
              <a:rPr lang="en-US" sz="3400" b="1" dirty="0">
                <a:solidFill>
                  <a:schemeClr val="tx2"/>
                </a:solidFill>
              </a:rPr>
              <a:t>Forschungsfrage und Hypothesen</a:t>
            </a:r>
            <a:endParaRPr lang="en-US" sz="3400" dirty="0"/>
          </a:p>
        </p:txBody>
      </p:sp>
      <p:sp>
        <p:nvSpPr>
          <p:cNvPr id="3" name="Hauptfrage Karte"/>
          <p:cNvSpPr/>
          <p:nvPr/>
        </p:nvSpPr>
        <p:spPr>
          <a:xfrm>
            <a:off x="548640" y="1143000"/>
            <a:ext cx="11091672" cy="1097280"/>
          </a:xfrm>
          <a:prstGeom prst="roundRect">
            <a:avLst>
              <a:gd name="adj" fmla="val 6667"/>
            </a:avLst>
          </a:prstGeom>
          <a:solidFill>
            <a:schemeClr val="accent1"/>
          </a:solidFill>
          <a:ln/>
        </p:spPr>
      </p:sp>
      <p:sp>
        <p:nvSpPr>
          <p:cNvPr id="4" name="Hauptfrage Label"/>
          <p:cNvSpPr txBox="1"/>
          <p:nvPr/>
        </p:nvSpPr>
        <p:spPr>
          <a:xfrm>
            <a:off x="822960" y="1234440"/>
            <a:ext cx="10561320" cy="274320"/>
          </a:xfrm>
          <a:prstGeom prst="rect">
            <a:avLst/>
          </a:prstGeom>
          <a:noFill/>
          <a:ln/>
        </p:spPr>
        <p:txBody>
          <a:bodyPr wrap="square" lIns="0" tIns="0" rIns="0" bIns="0" rtlCol="0" anchor="ctr"/>
          <a:lstStyle/>
          <a:p>
            <a:pPr indent="0" marL="0">
              <a:buNone/>
            </a:pPr>
            <a:r>
              <a:rPr lang="en-US" sz="1100" b="1" spc="200" kern="0" dirty="0">
                <a:solidFill>
                  <a:schemeClr val="accent4"/>
                </a:solidFill>
              </a:rPr>
              <a:t>HAUPTFRAGE</a:t>
            </a:r>
            <a:pPr indent="0" marL="0">
              <a:buNone/>
            </a:pPr>
            <a:r>
              <a:rPr lang="en-US" sz="1100" dirty="0">
                <a:solidFill>
                  <a:schemeClr val="accent4"/>
                </a:solidFill>
              </a:rPr>
              <a:t>     45 Wintersportorte  ·  tief &lt; 1200 m: 13  ·  mittel: 19  ·  hoch &gt; 1500 m: 13</a:t>
            </a:r>
            <a:endParaRPr lang="en-US" sz="1100" dirty="0"/>
          </a:p>
        </p:txBody>
      </p:sp>
      <p:sp>
        <p:nvSpPr>
          <p:cNvPr id="5" name="Hauptfrage Text"/>
          <p:cNvSpPr txBox="1"/>
          <p:nvPr/>
        </p:nvSpPr>
        <p:spPr>
          <a:xfrm>
            <a:off x="822960" y="1508760"/>
            <a:ext cx="10561320" cy="658368"/>
          </a:xfrm>
          <a:prstGeom prst="rect">
            <a:avLst/>
          </a:prstGeom>
          <a:noFill/>
          <a:ln/>
        </p:spPr>
        <p:txBody>
          <a:bodyPr wrap="square" lIns="0" tIns="0" rIns="0" bIns="0" rtlCol="0" anchor="t"/>
          <a:lstStyle/>
          <a:p>
            <a:pPr indent="0" marL="0">
              <a:buNone/>
            </a:pPr>
            <a:r>
              <a:rPr lang="en-US" sz="1700" dirty="0">
                <a:solidFill>
                  <a:schemeClr val="bg1"/>
                </a:solidFill>
              </a:rPr>
              <a:t>Wie stark beeinflussen Schneefall und Temperatur die Zimmerauslastung von Schweizer Hotels im Winter, und reagieren tief gelegene Wintersportorte (unter 1200 m ü. M.) stärker als hoch gelegene (über 1500 m ü. M.)?</a:t>
            </a:r>
            <a:endParaRPr lang="en-US" sz="1700" dirty="0"/>
          </a:p>
        </p:txBody>
      </p:sp>
      <p:sp>
        <p:nvSpPr>
          <p:cNvPr id="6" name="Teilfragen Titel"/>
          <p:cNvSpPr txBox="1"/>
          <p:nvPr/>
        </p:nvSpPr>
        <p:spPr>
          <a:xfrm>
            <a:off x="548640" y="2468880"/>
            <a:ext cx="6675120" cy="320040"/>
          </a:xfrm>
          <a:prstGeom prst="rect">
            <a:avLst/>
          </a:prstGeom>
          <a:noFill/>
          <a:ln/>
        </p:spPr>
        <p:txBody>
          <a:bodyPr wrap="square" lIns="0" tIns="0" rIns="0" bIns="0"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Teilfragen</a:t>
            </a:r>
            <a:endParaRPr lang="en-US" sz="1700" dirty="0"/>
          </a:p>
        </p:txBody>
      </p:sp>
      <p:sp>
        <p:nvSpPr>
          <p:cNvPr id="7" name="Teilfrage a"/>
          <p:cNvSpPr txBox="1"/>
          <p:nvPr/>
        </p:nvSpPr>
        <p:spPr>
          <a:xfrm>
            <a:off x="548640" y="2834640"/>
            <a:ext cx="6675120" cy="411480"/>
          </a:xfrm>
          <a:prstGeom prst="rect">
            <a:avLst/>
          </a:prstGeom>
          <a:noFill/>
          <a:ln/>
        </p:spPr>
        <p:txBody>
          <a:bodyPr wrap="square" lIns="0" tIns="0" rIns="0" bIns="0" rtlCol="0" anchor="ctr"/>
          <a:lstStyle/>
          <a:p>
            <a:pPr indent="0" marL="0">
              <a:buNone/>
            </a:pPr>
            <a:r>
              <a:rPr lang="en-US" sz="1400" b="1" dirty="0">
                <a:solidFill>
                  <a:schemeClr val="accent2"/>
                </a:solidFill>
              </a:rPr>
              <a:t>(a)  </a:t>
            </a:r>
            <a:pPr indent="0" marL="0">
              <a:buNone/>
            </a:pPr>
            <a:r>
              <a:rPr lang="en-US" sz="1400" dirty="0">
                <a:solidFill>
                  <a:schemeClr val="tx1"/>
                </a:solidFill>
              </a:rPr>
              <a:t>Reagieren Orte mit vielen inländischen Gästen anders als solche mit vielen ausländischen?</a:t>
            </a:r>
            <a:endParaRPr lang="en-US" sz="1400" dirty="0"/>
          </a:p>
        </p:txBody>
      </p:sp>
      <p:sp>
        <p:nvSpPr>
          <p:cNvPr id="8" name="Teilfrage b"/>
          <p:cNvSpPr txBox="1"/>
          <p:nvPr/>
        </p:nvSpPr>
        <p:spPr>
          <a:xfrm>
            <a:off x="548640" y="3291840"/>
            <a:ext cx="6675120" cy="411480"/>
          </a:xfrm>
          <a:prstGeom prst="rect">
            <a:avLst/>
          </a:prstGeom>
          <a:noFill/>
          <a:ln/>
        </p:spPr>
        <p:txBody>
          <a:bodyPr wrap="square" lIns="0" tIns="0" rIns="0" bIns="0" rtlCol="0" anchor="ctr"/>
          <a:lstStyle/>
          <a:p>
            <a:pPr indent="0" marL="0">
              <a:buNone/>
            </a:pPr>
            <a:r>
              <a:rPr lang="en-US" sz="1400" b="1" dirty="0">
                <a:solidFill>
                  <a:schemeClr val="accent2"/>
                </a:solidFill>
              </a:rPr>
              <a:t>(b)  </a:t>
            </a:r>
            <a:pPr indent="0" marL="0">
              <a:buNone/>
            </a:pPr>
            <a:r>
              <a:rPr lang="en-US" sz="1400" dirty="0">
                <a:solidFill>
                  <a:schemeClr val="tx1"/>
                </a:solidFill>
              </a:rPr>
              <a:t>Ist die Schneeabhängigkeit 2022–2026 stärker als 2013–2019?</a:t>
            </a:r>
            <a:endParaRPr lang="en-US" sz="1400" dirty="0"/>
          </a:p>
        </p:txBody>
      </p:sp>
      <p:sp>
        <p:nvSpPr>
          <p:cNvPr id="9" name="Hypothesen Titel"/>
          <p:cNvSpPr txBox="1"/>
          <p:nvPr/>
        </p:nvSpPr>
        <p:spPr>
          <a:xfrm>
            <a:off x="548640" y="3886200"/>
            <a:ext cx="6675120" cy="320040"/>
          </a:xfrm>
          <a:prstGeom prst="rect">
            <a:avLst/>
          </a:prstGeom>
          <a:noFill/>
          <a:ln/>
        </p:spPr>
        <p:txBody>
          <a:bodyPr wrap="square" lIns="0" tIns="0" rIns="0" bIns="0"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Hypothesen</a:t>
            </a:r>
            <a:endParaRPr lang="en-US" sz="1700" dirty="0"/>
          </a:p>
        </p:txBody>
      </p:sp>
      <p:sp>
        <p:nvSpPr>
          <p:cNvPr id="10" name="H1 Kreis"/>
          <p:cNvSpPr/>
          <p:nvPr/>
        </p:nvSpPr>
        <p:spPr>
          <a:xfrm>
            <a:off x="548640" y="4306824"/>
            <a:ext cx="329184" cy="329184"/>
          </a:xfrm>
          <a:prstGeom prst="ellipse">
            <a:avLst/>
          </a:prstGeom>
          <a:solidFill>
            <a:schemeClr val="accent2"/>
          </a:solidFill>
          <a:ln/>
        </p:spPr>
      </p:sp>
      <p:sp>
        <p:nvSpPr>
          <p:cNvPr id="11" name="H1 Nummer"/>
          <p:cNvSpPr txBox="1"/>
          <p:nvPr/>
        </p:nvSpPr>
        <p:spPr>
          <a:xfrm>
            <a:off x="548640" y="4306824"/>
            <a:ext cx="329184" cy="329184"/>
          </a:xfrm>
          <a:prstGeom prst="rect">
            <a:avLst/>
          </a:prstGeom>
          <a:noFill/>
          <a:ln/>
        </p:spPr>
        <p:txBody>
          <a:bodyPr wrap="square" lIns="0" tIns="0" rIns="0" bIns="0" rtlCol="0" anchor="ctr"/>
          <a:lstStyle/>
          <a:p>
            <a:pPr algn="ctr" indent="0" marL="0">
              <a:buNone/>
            </a:pPr>
            <a:r>
              <a:rPr lang="en-US" sz="1100" b="1" dirty="0">
                <a:solidFill>
                  <a:schemeClr val="bg1"/>
                </a:solidFill>
              </a:rPr>
              <a:t>H1</a:t>
            </a:r>
            <a:endParaRPr lang="en-US" sz="1100" dirty="0"/>
          </a:p>
        </p:txBody>
      </p:sp>
      <p:sp>
        <p:nvSpPr>
          <p:cNvPr id="12" name="H1 Text"/>
          <p:cNvSpPr txBox="1"/>
          <p:nvPr/>
        </p:nvSpPr>
        <p:spPr>
          <a:xfrm>
            <a:off x="1005840" y="4279392"/>
            <a:ext cx="6217920" cy="384048"/>
          </a:xfrm>
          <a:prstGeom prst="rect">
            <a:avLst/>
          </a:prstGeom>
          <a:noFill/>
          <a:ln/>
        </p:spPr>
        <p:txBody>
          <a:bodyPr wrap="square" lIns="0" tIns="0" rIns="0" bIns="0" rtlCol="0" anchor="ctr"/>
          <a:lstStyle/>
          <a:p>
            <a:pPr indent="0" marL="0">
              <a:buNone/>
            </a:pPr>
            <a:r>
              <a:rPr lang="en-US" sz="1400" dirty="0">
                <a:solidFill>
                  <a:schemeClr val="tx1"/>
                </a:solidFill>
              </a:rPr>
              <a:t>Mehr Neuschnee als üblich erhöht die Zimmerauslastung.</a:t>
            </a:r>
            <a:endParaRPr lang="en-US" sz="1400" dirty="0"/>
          </a:p>
        </p:txBody>
      </p:sp>
      <p:sp>
        <p:nvSpPr>
          <p:cNvPr id="13" name="H2 Kreis"/>
          <p:cNvSpPr/>
          <p:nvPr/>
        </p:nvSpPr>
        <p:spPr>
          <a:xfrm>
            <a:off x="548640" y="4709160"/>
            <a:ext cx="329184" cy="329184"/>
          </a:xfrm>
          <a:prstGeom prst="ellipse">
            <a:avLst/>
          </a:prstGeom>
          <a:solidFill>
            <a:schemeClr val="accent2"/>
          </a:solidFill>
          <a:ln/>
        </p:spPr>
      </p:sp>
      <p:sp>
        <p:nvSpPr>
          <p:cNvPr id="14" name="H2 Nummer"/>
          <p:cNvSpPr txBox="1"/>
          <p:nvPr/>
        </p:nvSpPr>
        <p:spPr>
          <a:xfrm>
            <a:off x="548640" y="4709160"/>
            <a:ext cx="329184" cy="329184"/>
          </a:xfrm>
          <a:prstGeom prst="rect">
            <a:avLst/>
          </a:prstGeom>
          <a:noFill/>
          <a:ln/>
        </p:spPr>
        <p:txBody>
          <a:bodyPr wrap="square" lIns="0" tIns="0" rIns="0" bIns="0" rtlCol="0" anchor="ctr"/>
          <a:lstStyle/>
          <a:p>
            <a:pPr algn="ctr" indent="0" marL="0">
              <a:buNone/>
            </a:pPr>
            <a:r>
              <a:rPr lang="en-US" sz="1100" b="1" dirty="0">
                <a:solidFill>
                  <a:schemeClr val="bg1"/>
                </a:solidFill>
              </a:rPr>
              <a:t>H2</a:t>
            </a:r>
            <a:endParaRPr lang="en-US" sz="1100" dirty="0"/>
          </a:p>
        </p:txBody>
      </p:sp>
      <p:sp>
        <p:nvSpPr>
          <p:cNvPr id="15" name="H2 Text"/>
          <p:cNvSpPr txBox="1"/>
          <p:nvPr/>
        </p:nvSpPr>
        <p:spPr>
          <a:xfrm>
            <a:off x="1005840" y="4681728"/>
            <a:ext cx="6217920" cy="384048"/>
          </a:xfrm>
          <a:prstGeom prst="rect">
            <a:avLst/>
          </a:prstGeom>
          <a:noFill/>
          <a:ln/>
        </p:spPr>
        <p:txBody>
          <a:bodyPr wrap="square" lIns="0" tIns="0" rIns="0" bIns="0" rtlCol="0" anchor="ctr"/>
          <a:lstStyle/>
          <a:p>
            <a:pPr indent="0" marL="0">
              <a:buNone/>
            </a:pPr>
            <a:r>
              <a:rPr lang="en-US" sz="1400" dirty="0">
                <a:solidFill>
                  <a:schemeClr val="tx1"/>
                </a:solidFill>
              </a:rPr>
              <a:t>Der Effekt ist in tiefen Gemeinden grösser als in hohen.</a:t>
            </a:r>
            <a:endParaRPr lang="en-US" sz="1400" dirty="0"/>
          </a:p>
        </p:txBody>
      </p:sp>
      <p:sp>
        <p:nvSpPr>
          <p:cNvPr id="16" name="H3 Kreis"/>
          <p:cNvSpPr/>
          <p:nvPr/>
        </p:nvSpPr>
        <p:spPr>
          <a:xfrm>
            <a:off x="548640" y="5111496"/>
            <a:ext cx="329184" cy="329184"/>
          </a:xfrm>
          <a:prstGeom prst="ellipse">
            <a:avLst/>
          </a:prstGeom>
          <a:solidFill>
            <a:schemeClr val="accent2"/>
          </a:solidFill>
          <a:ln/>
        </p:spPr>
      </p:sp>
      <p:sp>
        <p:nvSpPr>
          <p:cNvPr id="17" name="H3 Nummer"/>
          <p:cNvSpPr txBox="1"/>
          <p:nvPr/>
        </p:nvSpPr>
        <p:spPr>
          <a:xfrm>
            <a:off x="548640" y="5111496"/>
            <a:ext cx="329184" cy="329184"/>
          </a:xfrm>
          <a:prstGeom prst="rect">
            <a:avLst/>
          </a:prstGeom>
          <a:noFill/>
          <a:ln/>
        </p:spPr>
        <p:txBody>
          <a:bodyPr wrap="square" lIns="0" tIns="0" rIns="0" bIns="0" rtlCol="0" anchor="ctr"/>
          <a:lstStyle/>
          <a:p>
            <a:pPr algn="ctr" indent="0" marL="0">
              <a:buNone/>
            </a:pPr>
            <a:r>
              <a:rPr lang="en-US" sz="1100" b="1" dirty="0">
                <a:solidFill>
                  <a:schemeClr val="bg1"/>
                </a:solidFill>
              </a:rPr>
              <a:t>H3</a:t>
            </a:r>
            <a:endParaRPr lang="en-US" sz="1100" dirty="0"/>
          </a:p>
        </p:txBody>
      </p:sp>
      <p:sp>
        <p:nvSpPr>
          <p:cNvPr id="18" name="H3 Text"/>
          <p:cNvSpPr txBox="1"/>
          <p:nvPr/>
        </p:nvSpPr>
        <p:spPr>
          <a:xfrm>
            <a:off x="1005840" y="5084064"/>
            <a:ext cx="6217920" cy="384048"/>
          </a:xfrm>
          <a:prstGeom prst="rect">
            <a:avLst/>
          </a:prstGeom>
          <a:noFill/>
          <a:ln/>
        </p:spPr>
        <p:txBody>
          <a:bodyPr wrap="square" lIns="0" tIns="0" rIns="0" bIns="0" rtlCol="0" anchor="ctr"/>
          <a:lstStyle/>
          <a:p>
            <a:pPr indent="0" marL="0">
              <a:buNone/>
            </a:pPr>
            <a:r>
              <a:rPr lang="en-US" sz="1400" dirty="0">
                <a:solidFill>
                  <a:schemeClr val="tx1"/>
                </a:solidFill>
              </a:rPr>
              <a:t>Wärmere Monate senken die Auslastung in tiefen Gemeinden.</a:t>
            </a:r>
            <a:endParaRPr lang="en-US" sz="1400" dirty="0"/>
          </a:p>
        </p:txBody>
      </p:sp>
      <p:sp>
        <p:nvSpPr>
          <p:cNvPr id="19" name="H4 Kreis"/>
          <p:cNvSpPr/>
          <p:nvPr/>
        </p:nvSpPr>
        <p:spPr>
          <a:xfrm>
            <a:off x="548640" y="5513832"/>
            <a:ext cx="329184" cy="329184"/>
          </a:xfrm>
          <a:prstGeom prst="ellipse">
            <a:avLst/>
          </a:prstGeom>
          <a:solidFill>
            <a:schemeClr val="accent2"/>
          </a:solidFill>
          <a:ln/>
        </p:spPr>
      </p:sp>
      <p:sp>
        <p:nvSpPr>
          <p:cNvPr id="20" name="H4 Nummer"/>
          <p:cNvSpPr txBox="1"/>
          <p:nvPr/>
        </p:nvSpPr>
        <p:spPr>
          <a:xfrm>
            <a:off x="548640" y="5513832"/>
            <a:ext cx="329184" cy="329184"/>
          </a:xfrm>
          <a:prstGeom prst="rect">
            <a:avLst/>
          </a:prstGeom>
          <a:noFill/>
          <a:ln/>
        </p:spPr>
        <p:txBody>
          <a:bodyPr wrap="square" lIns="0" tIns="0" rIns="0" bIns="0" rtlCol="0" anchor="ctr"/>
          <a:lstStyle/>
          <a:p>
            <a:pPr algn="ctr" indent="0" marL="0">
              <a:buNone/>
            </a:pPr>
            <a:r>
              <a:rPr lang="en-US" sz="1100" b="1" dirty="0">
                <a:solidFill>
                  <a:schemeClr val="bg1"/>
                </a:solidFill>
              </a:rPr>
              <a:t>H4</a:t>
            </a:r>
            <a:endParaRPr lang="en-US" sz="1100" dirty="0"/>
          </a:p>
        </p:txBody>
      </p:sp>
      <p:sp>
        <p:nvSpPr>
          <p:cNvPr id="21" name="H4 Text"/>
          <p:cNvSpPr txBox="1"/>
          <p:nvPr/>
        </p:nvSpPr>
        <p:spPr>
          <a:xfrm>
            <a:off x="1005840" y="5486400"/>
            <a:ext cx="6217920" cy="384048"/>
          </a:xfrm>
          <a:prstGeom prst="rect">
            <a:avLst/>
          </a:prstGeom>
          <a:noFill/>
          <a:ln/>
        </p:spPr>
        <p:txBody>
          <a:bodyPr wrap="square" lIns="0" tIns="0" rIns="0" bIns="0" rtlCol="0" anchor="ctr"/>
          <a:lstStyle/>
          <a:p>
            <a:pPr indent="0" marL="0">
              <a:buNone/>
            </a:pPr>
            <a:r>
              <a:rPr lang="en-US" sz="1400" dirty="0">
                <a:solidFill>
                  <a:schemeClr val="tx1"/>
                </a:solidFill>
              </a:rPr>
              <a:t>Ein höherer EUR/CHF-Kurs und deutsche Schulferien erhöhen die Auslastung.</a:t>
            </a:r>
            <a:endParaRPr lang="en-US" sz="1400" dirty="0"/>
          </a:p>
        </p:txBody>
      </p:sp>
      <p:sp>
        <p:nvSpPr>
          <p:cNvPr id="22" name="H5 Kreis"/>
          <p:cNvSpPr/>
          <p:nvPr/>
        </p:nvSpPr>
        <p:spPr>
          <a:xfrm>
            <a:off x="548640" y="5916168"/>
            <a:ext cx="329184" cy="329184"/>
          </a:xfrm>
          <a:prstGeom prst="ellipse">
            <a:avLst/>
          </a:prstGeom>
          <a:solidFill>
            <a:schemeClr val="accent2"/>
          </a:solidFill>
          <a:ln/>
        </p:spPr>
      </p:sp>
      <p:sp>
        <p:nvSpPr>
          <p:cNvPr id="23" name="H5 Nummer"/>
          <p:cNvSpPr txBox="1"/>
          <p:nvPr/>
        </p:nvSpPr>
        <p:spPr>
          <a:xfrm>
            <a:off x="548640" y="5916168"/>
            <a:ext cx="329184" cy="329184"/>
          </a:xfrm>
          <a:prstGeom prst="rect">
            <a:avLst/>
          </a:prstGeom>
          <a:noFill/>
          <a:ln/>
        </p:spPr>
        <p:txBody>
          <a:bodyPr wrap="square" lIns="0" tIns="0" rIns="0" bIns="0" rtlCol="0" anchor="ctr"/>
          <a:lstStyle/>
          <a:p>
            <a:pPr algn="ctr" indent="0" marL="0">
              <a:buNone/>
            </a:pPr>
            <a:r>
              <a:rPr lang="en-US" sz="1100" b="1" dirty="0">
                <a:solidFill>
                  <a:schemeClr val="bg1"/>
                </a:solidFill>
              </a:rPr>
              <a:t>H5</a:t>
            </a:r>
            <a:endParaRPr lang="en-US" sz="1100" dirty="0"/>
          </a:p>
        </p:txBody>
      </p:sp>
      <p:sp>
        <p:nvSpPr>
          <p:cNvPr id="24" name="H5 Text"/>
          <p:cNvSpPr txBox="1"/>
          <p:nvPr/>
        </p:nvSpPr>
        <p:spPr>
          <a:xfrm>
            <a:off x="1005840" y="5888736"/>
            <a:ext cx="6217920" cy="384048"/>
          </a:xfrm>
          <a:prstGeom prst="rect">
            <a:avLst/>
          </a:prstGeom>
          <a:noFill/>
          <a:ln/>
        </p:spPr>
        <p:txBody>
          <a:bodyPr wrap="square" lIns="0" tIns="0" rIns="0" bIns="0" rtlCol="0" anchor="ctr"/>
          <a:lstStyle/>
          <a:p>
            <a:pPr indent="0" marL="0">
              <a:buNone/>
            </a:pPr>
            <a:r>
              <a:rPr lang="en-US" sz="1400" dirty="0">
                <a:solidFill>
                  <a:schemeClr val="tx1"/>
                </a:solidFill>
              </a:rPr>
              <a:t>Auch unter Berücksichtigung dieser Faktoren bleibt ein eigener Schnee-Effekt.</a:t>
            </a:r>
            <a:endParaRPr lang="en-US" sz="1400" dirty="0"/>
          </a:p>
        </p:txBody>
      </p:sp>
      <p:sp>
        <p:nvSpPr>
          <p:cNvPr id="25" name="Variablen Karte"/>
          <p:cNvSpPr/>
          <p:nvPr/>
        </p:nvSpPr>
        <p:spPr>
          <a:xfrm>
            <a:off x="7589520" y="2468880"/>
            <a:ext cx="4050792" cy="2743200"/>
          </a:xfrm>
          <a:prstGeom prst="roundRect">
            <a:avLst>
              <a:gd name="adj" fmla="val 2667"/>
            </a:avLst>
          </a:prstGeom>
          <a:solidFill>
            <a:schemeClr val="bg2"/>
          </a:solidFill>
          <a:ln/>
        </p:spPr>
      </p:sp>
      <p:sp>
        <p:nvSpPr>
          <p:cNvPr id="26" name="Variablen Titel"/>
          <p:cNvSpPr txBox="1"/>
          <p:nvPr/>
        </p:nvSpPr>
        <p:spPr>
          <a:xfrm>
            <a:off x="7863840" y="2606040"/>
            <a:ext cx="3502152" cy="320040"/>
          </a:xfrm>
          <a:prstGeom prst="rect">
            <a:avLst/>
          </a:prstGeom>
          <a:noFill/>
          <a:ln/>
        </p:spPr>
        <p:txBody>
          <a:bodyPr wrap="square" lIns="0" tIns="0" rIns="0" bIns="0" rtlCol="0" anchor="ctr"/>
          <a:lstStyle/>
          <a:p>
            <a:pPr indent="0" marL="0">
              <a:buNone/>
            </a:pPr>
            <a:r>
              <a:rPr lang="en-US" sz="1500" b="1" dirty="0">
                <a:solidFill>
                  <a:schemeClr val="tx2"/>
                </a:solidFill>
              </a:rPr>
              <a:t>Variablen neben Schnee und Temperatur</a:t>
            </a:r>
            <a:endParaRPr lang="en-US" sz="1500" dirty="0"/>
          </a:p>
        </p:txBody>
      </p:sp>
      <p:sp>
        <p:nvSpPr>
          <p:cNvPr id="27" name="Variablen Wetter Label"/>
          <p:cNvSpPr txBox="1"/>
          <p:nvPr/>
        </p:nvSpPr>
        <p:spPr>
          <a:xfrm>
            <a:off x="7863840" y="3017520"/>
            <a:ext cx="777240" cy="365760"/>
          </a:xfrm>
          <a:prstGeom prst="rect">
            <a:avLst/>
          </a:prstGeom>
          <a:noFill/>
          <a:ln/>
        </p:spPr>
        <p:txBody>
          <a:bodyPr wrap="square" lIns="0" tIns="0" rIns="0" bIns="0" rtlCol="0" anchor="t"/>
          <a:lstStyle/>
          <a:p>
            <a:pPr indent="0" marL="0">
              <a:buNone/>
            </a:pPr>
            <a:r>
              <a:rPr lang="en-US" sz="1400" b="1" dirty="0">
                <a:solidFill>
                  <a:schemeClr val="accent3"/>
                </a:solidFill>
              </a:rPr>
              <a:t>Wetter</a:t>
            </a:r>
            <a:endParaRPr lang="en-US" sz="1400" dirty="0"/>
          </a:p>
        </p:txBody>
      </p:sp>
      <p:sp>
        <p:nvSpPr>
          <p:cNvPr id="28" name="Variablen Wetter Text"/>
          <p:cNvSpPr txBox="1"/>
          <p:nvPr/>
        </p:nvSpPr>
        <p:spPr>
          <a:xfrm>
            <a:off x="8641080" y="3017520"/>
            <a:ext cx="2724912" cy="365760"/>
          </a:xfrm>
          <a:prstGeom prst="rect">
            <a:avLst/>
          </a:prstGeom>
          <a:noFill/>
          <a:ln/>
        </p:spPr>
        <p:txBody>
          <a:bodyPr wrap="square" lIns="0" tIns="0" rIns="0" bIns="0" rtlCol="0" anchor="t"/>
          <a:lstStyle/>
          <a:p>
            <a:pPr indent="0" marL="0">
              <a:buNone/>
            </a:pPr>
            <a:r>
              <a:rPr lang="en-US" sz="1400" dirty="0">
                <a:solidFill>
                  <a:schemeClr val="tx1"/>
                </a:solidFill>
              </a:rPr>
              <a:t>Sonnenstunden</a:t>
            </a:r>
            <a:endParaRPr lang="en-US" sz="1400" dirty="0"/>
          </a:p>
        </p:txBody>
      </p:sp>
      <p:sp>
        <p:nvSpPr>
          <p:cNvPr id="29" name="Variablen Ort Label"/>
          <p:cNvSpPr txBox="1"/>
          <p:nvPr/>
        </p:nvSpPr>
        <p:spPr>
          <a:xfrm>
            <a:off x="7863840" y="3401568"/>
            <a:ext cx="777240" cy="502920"/>
          </a:xfrm>
          <a:prstGeom prst="rect">
            <a:avLst/>
          </a:prstGeom>
          <a:noFill/>
          <a:ln/>
        </p:spPr>
        <p:txBody>
          <a:bodyPr wrap="square" lIns="0" tIns="0" rIns="0" bIns="0" rtlCol="0" anchor="t"/>
          <a:lstStyle/>
          <a:p>
            <a:pPr indent="0" marL="0">
              <a:buNone/>
            </a:pPr>
            <a:r>
              <a:rPr lang="en-US" sz="1400" b="1" dirty="0">
                <a:solidFill>
                  <a:schemeClr val="accent3"/>
                </a:solidFill>
              </a:rPr>
              <a:t>Ort</a:t>
            </a:r>
            <a:endParaRPr lang="en-US" sz="1400" dirty="0"/>
          </a:p>
        </p:txBody>
      </p:sp>
      <p:sp>
        <p:nvSpPr>
          <p:cNvPr id="30" name="Variablen Ort Text"/>
          <p:cNvSpPr txBox="1"/>
          <p:nvPr/>
        </p:nvSpPr>
        <p:spPr>
          <a:xfrm>
            <a:off x="8641080" y="3401568"/>
            <a:ext cx="2724912" cy="502920"/>
          </a:xfrm>
          <a:prstGeom prst="rect">
            <a:avLst/>
          </a:prstGeom>
          <a:noFill/>
          <a:ln/>
        </p:spPr>
        <p:txBody>
          <a:bodyPr wrap="square" lIns="0" tIns="0" rIns="0" bIns="0" rtlCol="0" anchor="t"/>
          <a:lstStyle/>
          <a:p>
            <a:pPr indent="0" marL="0">
              <a:buNone/>
            </a:pPr>
            <a:r>
              <a:rPr lang="en-US" sz="1400" dirty="0">
                <a:solidFill>
                  <a:schemeClr val="tx1"/>
                </a:solidFill>
              </a:rPr>
              <a:t>Höhenklasse, Hotelkapazität, Anteil ausländischer Gäste</a:t>
            </a:r>
            <a:endParaRPr lang="en-US" sz="1400" dirty="0"/>
          </a:p>
        </p:txBody>
      </p:sp>
      <p:sp>
        <p:nvSpPr>
          <p:cNvPr id="31" name="Variablen Zeit Label"/>
          <p:cNvSpPr txBox="1"/>
          <p:nvPr/>
        </p:nvSpPr>
        <p:spPr>
          <a:xfrm>
            <a:off x="7863840" y="3950208"/>
            <a:ext cx="777240" cy="731520"/>
          </a:xfrm>
          <a:prstGeom prst="rect">
            <a:avLst/>
          </a:prstGeom>
          <a:noFill/>
          <a:ln/>
        </p:spPr>
        <p:txBody>
          <a:bodyPr wrap="square" lIns="0" tIns="0" rIns="0" bIns="0" rtlCol="0" anchor="t"/>
          <a:lstStyle/>
          <a:p>
            <a:pPr indent="0" marL="0">
              <a:buNone/>
            </a:pPr>
            <a:r>
              <a:rPr lang="en-US" sz="1400" b="1" dirty="0">
                <a:solidFill>
                  <a:schemeClr val="accent3"/>
                </a:solidFill>
              </a:rPr>
              <a:t>Zeit</a:t>
            </a:r>
            <a:endParaRPr lang="en-US" sz="1400" dirty="0"/>
          </a:p>
        </p:txBody>
      </p:sp>
      <p:sp>
        <p:nvSpPr>
          <p:cNvPr id="32" name="Variablen Zeit Text"/>
          <p:cNvSpPr txBox="1"/>
          <p:nvPr/>
        </p:nvSpPr>
        <p:spPr>
          <a:xfrm>
            <a:off x="8641080" y="3950208"/>
            <a:ext cx="2724912" cy="731520"/>
          </a:xfrm>
          <a:prstGeom prst="rect">
            <a:avLst/>
          </a:prstGeom>
          <a:noFill/>
          <a:ln/>
        </p:spPr>
        <p:txBody>
          <a:bodyPr wrap="square" lIns="0" tIns="0" rIns="0" bIns="0" rtlCol="0" anchor="t"/>
          <a:lstStyle/>
          <a:p>
            <a:pPr indent="0" marL="0">
              <a:buNone/>
            </a:pPr>
            <a:r>
              <a:rPr lang="en-US" sz="1400" dirty="0">
                <a:solidFill>
                  <a:schemeClr val="tx1"/>
                </a:solidFill>
              </a:rPr>
              <a:t>EUR/CHF-Kurs, Schulferien Deutschland, Schulferien Schweiz</a:t>
            </a:r>
            <a:pPr indent="0" marL="0">
              <a:buNone/>
            </a:pPr>
            <a:r>
              <a:rPr lang="en-US" sz="1400" b="1" dirty="0">
                <a:solidFill>
                  <a:schemeClr val="accent2"/>
                </a:solidFill>
              </a:rPr>
              <a:t>*</a:t>
            </a:r>
            <a:pPr indent="0" marL="0">
              <a:buNone/>
            </a:pPr>
            <a:r>
              <a:rPr lang="en-US" sz="1400" dirty="0">
                <a:solidFill>
                  <a:schemeClr val="tx1"/>
                </a:solidFill>
              </a:rPr>
              <a:t>, Feiertage Schweiz</a:t>
            </a:r>
            <a:endParaRPr lang="en-US" sz="1400" dirty="0"/>
          </a:p>
        </p:txBody>
      </p:sp>
      <p:sp>
        <p:nvSpPr>
          <p:cNvPr id="33" name="Variablen Hinweis"/>
          <p:cNvSpPr txBox="1"/>
          <p:nvPr/>
        </p:nvSpPr>
        <p:spPr>
          <a:xfrm>
            <a:off x="7863840" y="4709160"/>
            <a:ext cx="3502152" cy="411480"/>
          </a:xfrm>
          <a:prstGeom prst="rect">
            <a:avLst/>
          </a:prstGeom>
          <a:noFill/>
          <a:ln/>
        </p:spPr>
        <p:txBody>
          <a:bodyPr wrap="square" lIns="0" tIns="0" rIns="0" bIns="0" rtlCol="0" anchor="t"/>
          <a:lstStyle/>
          <a:p>
            <a:pPr indent="0" marL="0">
              <a:spcAft>
                <a:spcPts val="200"/>
              </a:spcAft>
              <a:buNone/>
            </a:pPr>
            <a:r>
              <a:rPr lang="en-US" sz="1100" i="1" dirty="0">
                <a:solidFill>
                  <a:schemeClr val="accent5"/>
                </a:solidFill>
              </a:rPr>
              <a:t>Zeit-Variablen gelten für alle Gemeinden gleich</a:t>
            </a:r>
            <a:endParaRPr lang="en-US" sz="1100" dirty="0"/>
          </a:p>
          <a:p>
            <a:pPr indent="0" marL="0">
              <a:spcAft>
                <a:spcPts val="200"/>
              </a:spcAft>
              <a:buNone/>
            </a:pPr>
            <a:r>
              <a:rPr lang="en-US" sz="1100" b="1" dirty="0">
                <a:solidFill>
                  <a:schemeClr val="accent2"/>
                </a:solidFill>
              </a:rPr>
              <a:t>* Annahme: </a:t>
            </a:r>
            <a:pPr indent="0" marL="0">
              <a:spcAft>
                <a:spcPts val="200"/>
              </a:spcAft>
              <a:buNone/>
            </a:pPr>
            <a:r>
              <a:rPr lang="en-US" sz="1100" dirty="0">
                <a:solidFill>
                  <a:schemeClr val="tx1"/>
                </a:solidFill>
              </a:rPr>
              <a:t>2013–2019 geschätzt (Muster 2021–2026)</a:t>
            </a:r>
            <a:endParaRPr lang="en-US" sz="1100" dirty="0"/>
          </a:p>
        </p:txBody>
      </p:sp>
      <p:sp>
        <p:nvSpPr>
          <p:cNvPr id="34" name="Zielgrösse Karte"/>
          <p:cNvSpPr/>
          <p:nvPr/>
        </p:nvSpPr>
        <p:spPr>
          <a:xfrm>
            <a:off x="7589520" y="5349240"/>
            <a:ext cx="4050792" cy="868680"/>
          </a:xfrm>
          <a:prstGeom prst="roundRect">
            <a:avLst>
              <a:gd name="adj" fmla="val 8421"/>
            </a:avLst>
          </a:prstGeom>
          <a:solidFill>
            <a:schemeClr val="bg1"/>
          </a:solidFill>
          <a:ln w="15875">
            <a:solidFill>
              <a:schemeClr val="accent4"/>
            </a:solidFill>
            <a:prstDash val="solid"/>
          </a:ln>
        </p:spPr>
      </p:sp>
      <p:sp>
        <p:nvSpPr>
          <p:cNvPr id="35" name="Zielgrösse Label"/>
          <p:cNvSpPr txBox="1"/>
          <p:nvPr/>
        </p:nvSpPr>
        <p:spPr>
          <a:xfrm>
            <a:off x="7863840" y="5440680"/>
            <a:ext cx="1828800"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ZIELGRÖSSE</a:t>
            </a:r>
            <a:endParaRPr lang="en-US" sz="1000" dirty="0"/>
          </a:p>
        </p:txBody>
      </p:sp>
      <p:sp>
        <p:nvSpPr>
          <p:cNvPr id="36" name="Zielgrösse Wert"/>
          <p:cNvSpPr txBox="1"/>
          <p:nvPr/>
        </p:nvSpPr>
        <p:spPr>
          <a:xfrm>
            <a:off x="7863840" y="5650992"/>
            <a:ext cx="3502152" cy="320040"/>
          </a:xfrm>
          <a:prstGeom prst="rect">
            <a:avLst/>
          </a:prstGeom>
          <a:noFill/>
          <a:ln/>
        </p:spPr>
        <p:txBody>
          <a:bodyPr wrap="square" lIns="0" tIns="0" rIns="0" bIns="0" rtlCol="0" anchor="ctr"/>
          <a:lstStyle/>
          <a:p>
            <a:pPr indent="0" marL="0">
              <a:buNone/>
            </a:pPr>
            <a:r>
              <a:rPr lang="en-US" sz="1800" b="1" dirty="0">
                <a:solidFill>
                  <a:schemeClr val="accent2"/>
                </a:solidFill>
              </a:rPr>
              <a:t>Zimmerauslastung in %</a:t>
            </a:r>
            <a:endParaRPr lang="en-US" sz="1800" dirty="0"/>
          </a:p>
        </p:txBody>
      </p:sp>
      <p:sp>
        <p:nvSpPr>
          <p:cNvPr id="37" name="Zielgrösse Begründung"/>
          <p:cNvSpPr txBox="1"/>
          <p:nvPr/>
        </p:nvSpPr>
        <p:spPr>
          <a:xfrm>
            <a:off x="7863840" y="5943600"/>
            <a:ext cx="3502152" cy="228600"/>
          </a:xfrm>
          <a:prstGeom prst="rect">
            <a:avLst/>
          </a:prstGeom>
          <a:noFill/>
          <a:ln/>
        </p:spPr>
        <p:txBody>
          <a:bodyPr wrap="square" lIns="0" tIns="0" rIns="0" bIns="0" rtlCol="0" anchor="ctr"/>
          <a:lstStyle/>
          <a:p>
            <a:pPr indent="0" marL="0">
              <a:buNone/>
            </a:pPr>
            <a:r>
              <a:rPr lang="en-US" sz="1100" dirty="0">
                <a:solidFill>
                  <a:schemeClr val="accent5"/>
                </a:solidFill>
              </a:rPr>
              <a:t>unabhängig von der Grösse des Ortes</a:t>
            </a:r>
            <a:endParaRPr lang="en-US" sz="1100" dirty="0"/>
          </a:p>
        </p:txBody>
      </p:sp>
      <p:sp>
        <p:nvSpPr>
          <p:cNvPr id="38" name="Fussnote Corona"/>
          <p:cNvSpPr txBox="1"/>
          <p:nvPr/>
        </p:nvSpPr>
        <p:spPr>
          <a:xfrm>
            <a:off x="548640" y="6355080"/>
            <a:ext cx="6675120" cy="274320"/>
          </a:xfrm>
          <a:prstGeom prst="rect">
            <a:avLst/>
          </a:prstGeom>
          <a:noFill/>
          <a:ln/>
        </p:spPr>
        <p:txBody>
          <a:bodyPr wrap="square" lIns="0" tIns="0" rIns="0" bIns="0" rtlCol="0" anchor="ctr"/>
          <a:lstStyle/>
          <a:p>
            <a:pPr indent="0" marL="0">
              <a:buNone/>
            </a:pPr>
            <a:r>
              <a:rPr lang="en-US" sz="1100" i="1" dirty="0">
                <a:solidFill>
                  <a:schemeClr val="accent5"/>
                </a:solidFill>
              </a:rPr>
              <a:t>Corona-Winter 2019/20 (ab März 2020) und 2020/21 werden ausgeschlossen bzw. markiert.</a:t>
            </a:r>
            <a:endParaRPr lang="en-US" sz="1100" dirty="0"/>
          </a:p>
        </p:txBody>
      </p:sp>
    </p:spTree>
  </p:cSld>
  <p:clrMapOvr>
    <a:masterClrMapping/>
  </p:clrMapOvr>
</p:sld>
</file>

<file path=ppt/theme/theme1.xml><?xml version="1.0" encoding="utf-8"?>
<a:theme xmlns:a="http://schemas.openxmlformats.org/drawingml/2006/main" name="Schnee und Betten">
  <a:themeElements>
    <a:clrScheme name="Schnee und Betten">
      <a:dk1>
        <a:srgbClr val="1B2A38"/>
      </a:dk1>
      <a:lt1>
        <a:srgbClr val="FFFFFF"/>
      </a:lt1>
      <a:dk2>
        <a:srgbClr val="17324D"/>
      </a:dk2>
      <a:lt2>
        <a:srgbClr val="E6F0F6"/>
      </a:lt2>
      <a:accent1>
        <a:srgbClr val="17324D"/>
      </a:accent1>
      <a:accent2>
        <a:srgbClr val="D9692B"/>
      </a:accent2>
      <a:accent3>
        <a:srgbClr val="4F7FA8"/>
      </a:accent3>
      <a:accent4>
        <a:srgbClr val="8FB8D6"/>
      </a:accent4>
      <a:accent5>
        <a:srgbClr val="6B7A88"/>
      </a:accent5>
      <a:accent6>
        <a:srgbClr val="2E6B4F"/>
      </a:accent6>
      <a:hlink>
        <a:srgbClr val="4F7FA8"/>
      </a:hlink>
      <a:folHlink>
        <a:srgbClr val="6B7A88"/>
      </a:folHlink>
    </a:clrScheme>
    <a:fontScheme name="Schnee und Bette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Forschungsfrage und Hypothesen</dc:title>
  <dc:subject>PptxGenJS Presentation</dc:subject>
  <dc:creator>Gruppe 35</dc:creator>
  <cp:lastModifiedBy>Gruppe 35</cp:lastModifiedBy>
  <cp:revision>1</cp:revision>
  <dcterms:created xsi:type="dcterms:W3CDTF">2026-10-27T11:03:38Z</dcterms:created>
  <dcterms:modified xsi:type="dcterms:W3CDTF">2026-10-27T11:03:38Z</dcterms:modified>
</cp:coreProperties>
</file>